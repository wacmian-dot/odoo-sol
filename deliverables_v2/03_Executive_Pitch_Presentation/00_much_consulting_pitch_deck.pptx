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isn't about an ERP migration. It's about something MDR Devices has never had — one validated record of how a compliant implant actually moves through this business, start to finish. Everything after this slide is in service of that single idea.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tools does its job well in isolation. The problem shows up in the white space between them — the handoffs nobody owns. That white space is where your audit exposure lives.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department gave an honest answer when asked what they do in the ERP. None of them own the thread connecting those answers — because until now, nobody's job was to own it. That's not a gap in your team. It's a gap in the method. It's exactly the gap we're built to close.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for everything that follows. Every screen, every automation we show you next is one segment of this single thread.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what you're about to see runs on standard Odoo Enterprise configuration. That covers the majority of this flow, and it's what protects your upgrade path. Field Service closes the loop at the point of surgery and CRM carries the physician credential records — both native, both named, alongside the five core apps. Where standard Odoo genuinely stops short, we extend it deliberately, and I'll tell you exactly where, because that's the same pattern we've used on other regulated device implementations. I'd rather show you precisely where the extension sits than claim there isn't one. We don't sell zero custom code. We sell named custom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checklist item in a training deck. It's a hard stop in the sales flow. Your sales team can't accidentally ship to an unqualified physician — the system won't let the order confirm.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implant's identity is captured at the point of receipt, structured immediately, and it never has to be re-keyed by hand again downstream.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one has to remember the hold period. The system enforces it structurally — the stock is simply not pickable until both conditions are true.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finance team stops manually stitching together which claim belongs to which surgery. The analytic thread linking every invoice back to the clinical event is native. The payer split itself — even the two-way insurer/co-pay case — sits in the named extension layer: a sale order natively invoices a single partner, so we scope that logic explicitly rather than promise it as out-of-the-box. The link is structural either way, not a spreadsheet exercise.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you've just seen slide by slide is one continuous flow. This is what your CEO sees on a Monday morning — not four dashboards stitched together after the fact, but one live operational picture. On comparable engagements, that's translated into audit-evidence work going from weeks to a single day. I won't hand you that number as gospel for MDR Devices specifically — we size it together in discovery — but the direction holds.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validate this the way regulators actually expect a mixed system to be validated — Category 4 rigor for the native core, Category 5 rigor for the scoped extension layer, fully traceable, and honest about where a control needs to be designed rather than assumed.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asking you to commit to a black box. We're asking for a decision to start Phase 1 with a defined, testable scope, and you'll see this thread live in your own instance before the next board update.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548640"/>
          </a:xfrm>
          <a:prstGeom prst="rect">
            <a:avLst/>
          </a:prstGeom>
          <a:noFill/>
        </p:spPr>
        <p:txBody>
          <a:bodyPr wrap="square" anchor="t">
            <a:spAutoFit/>
          </a:bodyPr>
          <a:lstStyle/>
          <a:p>
            <a:pPr algn="l">
              <a:lnSpc>
                <a:spcPct val="100000"/>
              </a:lnSpc>
            </a:pPr>
            <a:r>
              <a:rPr sz="1600" b="1" i="0">
                <a:solidFill>
                  <a:srgbClr val="2E6BB8"/>
                </a:solidFill>
                <a:latin typeface="Calibri"/>
              </a:rPr>
              <a:t>much. CONSULTING</a:t>
            </a:r>
          </a:p>
        </p:txBody>
      </p:sp>
      <p:sp>
        <p:nvSpPr>
          <p:cNvPr id="4" name="TextBox 3"/>
          <p:cNvSpPr txBox="1"/>
          <p:nvPr/>
        </p:nvSpPr>
        <p:spPr>
          <a:xfrm>
            <a:off x="914400" y="2834640"/>
            <a:ext cx="10332720" cy="1463040"/>
          </a:xfrm>
          <a:prstGeom prst="rect">
            <a:avLst/>
          </a:prstGeom>
          <a:noFill/>
        </p:spPr>
        <p:txBody>
          <a:bodyPr wrap="square" anchor="t">
            <a:spAutoFit/>
          </a:bodyPr>
          <a:lstStyle/>
          <a:p>
            <a:pPr algn="l">
              <a:lnSpc>
                <a:spcPct val="100000"/>
              </a:lnSpc>
            </a:pPr>
            <a:r>
              <a:rPr sz="4800" b="1" i="0">
                <a:solidFill>
                  <a:srgbClr val="FFFFFF"/>
                </a:solidFill>
                <a:latin typeface="Calibri"/>
              </a:rPr>
              <a:t>One Compliant Thread.</a:t>
            </a:r>
          </a:p>
        </p:txBody>
      </p:sp>
      <p:sp>
        <p:nvSpPr>
          <p:cNvPr id="5" name="TextBox 4"/>
          <p:cNvSpPr txBox="1"/>
          <p:nvPr/>
        </p:nvSpPr>
        <p:spPr>
          <a:xfrm>
            <a:off x="914400" y="3611880"/>
            <a:ext cx="10332720" cy="1463040"/>
          </a:xfrm>
          <a:prstGeom prst="rect">
            <a:avLst/>
          </a:prstGeom>
          <a:noFill/>
        </p:spPr>
        <p:txBody>
          <a:bodyPr wrap="square" anchor="t">
            <a:spAutoFit/>
          </a:bodyPr>
          <a:lstStyle/>
          <a:p>
            <a:pPr algn="l">
              <a:lnSpc>
                <a:spcPct val="100000"/>
              </a:lnSpc>
            </a:pPr>
            <a:r>
              <a:rPr sz="4800" b="1" i="0">
                <a:solidFill>
                  <a:srgbClr val="FFFFFF"/>
                </a:solidFill>
                <a:latin typeface="Calibri"/>
              </a:rPr>
              <a:t>From Receipt to Patient.</a:t>
            </a:r>
          </a:p>
        </p:txBody>
      </p:sp>
      <p:sp>
        <p:nvSpPr>
          <p:cNvPr id="6" name="TextBox 5"/>
          <p:cNvSpPr txBox="1"/>
          <p:nvPr/>
        </p:nvSpPr>
        <p:spPr>
          <a:xfrm>
            <a:off x="914400" y="5120640"/>
            <a:ext cx="10332720" cy="457200"/>
          </a:xfrm>
          <a:prstGeom prst="rect">
            <a:avLst/>
          </a:prstGeom>
          <a:noFill/>
        </p:spPr>
        <p:txBody>
          <a:bodyPr wrap="square" anchor="t">
            <a:spAutoFit/>
          </a:bodyPr>
          <a:lstStyle/>
          <a:p>
            <a:pPr algn="l">
              <a:lnSpc>
                <a:spcPct val="100000"/>
              </a:lnSpc>
            </a:pPr>
            <a:r>
              <a:rPr sz="1600" b="0" i="0">
                <a:solidFill>
                  <a:srgbClr val="B9C6D6"/>
                </a:solidFill>
                <a:latin typeface="Calibri"/>
              </a:rPr>
              <a:t>MDR Devices Medizintechnik GmbH  —  Odoo Enterprise Architecture Pitch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THE PROBLEM</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Four Systems of Record. No Shared Thread.</a:t>
            </a:r>
          </a:p>
        </p:txBody>
      </p:sp>
      <p:sp>
        <p:nvSpPr>
          <p:cNvPr id="6" name="Rounded Rectangle 5"/>
          <p:cNvSpPr/>
          <p:nvPr/>
        </p:nvSpPr>
        <p:spPr>
          <a:xfrm>
            <a:off x="860907" y="2377440"/>
            <a:ext cx="237744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E33"/>
                </a:solidFill>
              </a:rPr>
              <a:t>QMS</a:t>
            </a:r>
          </a:p>
        </p:txBody>
      </p:sp>
      <p:cxnSp>
        <p:nvCxnSpPr>
          <p:cNvPr id="7" name="Connector 6"/>
          <p:cNvCxnSpPr/>
          <p:nvPr/>
        </p:nvCxnSpPr>
        <p:spPr>
          <a:xfrm>
            <a:off x="3238347" y="2971800"/>
            <a:ext cx="320040" cy="0"/>
          </a:xfrm>
          <a:prstGeom prst="bentConnector3">
            <a:avLst/>
          </a:prstGeom>
          <a:ln w="25400">
            <a:solidFill>
              <a:srgbClr val="C04040"/>
            </a:solidFill>
            <a:prstDash val="sysDash"/>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58387" y="2377440"/>
            <a:ext cx="237744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E33"/>
                </a:solidFill>
              </a:rPr>
              <a:t>LIMS</a:t>
            </a:r>
          </a:p>
        </p:txBody>
      </p:sp>
      <p:cxnSp>
        <p:nvCxnSpPr>
          <p:cNvPr id="9" name="Connector 8"/>
          <p:cNvCxnSpPr/>
          <p:nvPr/>
        </p:nvCxnSpPr>
        <p:spPr>
          <a:xfrm>
            <a:off x="5935827" y="2971800"/>
            <a:ext cx="320040" cy="0"/>
          </a:xfrm>
          <a:prstGeom prst="bentConnector3">
            <a:avLst/>
          </a:prstGeom>
          <a:ln w="25400">
            <a:solidFill>
              <a:srgbClr val="C04040"/>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55867" y="2377440"/>
            <a:ext cx="237744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E33"/>
                </a:solidFill>
              </a:rPr>
              <a:t>Field Service</a:t>
            </a:r>
          </a:p>
        </p:txBody>
      </p:sp>
      <p:cxnSp>
        <p:nvCxnSpPr>
          <p:cNvPr id="11" name="Connector 10"/>
          <p:cNvCxnSpPr/>
          <p:nvPr/>
        </p:nvCxnSpPr>
        <p:spPr>
          <a:xfrm>
            <a:off x="8633307" y="2971800"/>
            <a:ext cx="320040" cy="0"/>
          </a:xfrm>
          <a:prstGeom prst="bentConnector3">
            <a:avLst/>
          </a:prstGeom>
          <a:ln w="25400">
            <a:solidFill>
              <a:srgbClr val="C04040"/>
            </a:solidFill>
            <a:prstDash val="sys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953347" y="2377440"/>
            <a:ext cx="237744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E33"/>
                </a:solidFill>
              </a:rPr>
              <a:t>Legacy ERP</a:t>
            </a:r>
          </a:p>
        </p:txBody>
      </p:sp>
      <p:sp>
        <p:nvSpPr>
          <p:cNvPr id="13" name="TextBox 12"/>
          <p:cNvSpPr txBox="1"/>
          <p:nvPr/>
        </p:nvSpPr>
        <p:spPr>
          <a:xfrm>
            <a:off x="860907" y="3931920"/>
            <a:ext cx="10469880" cy="457200"/>
          </a:xfrm>
          <a:prstGeom prst="rect">
            <a:avLst/>
          </a:prstGeom>
          <a:noFill/>
        </p:spPr>
        <p:txBody>
          <a:bodyPr wrap="square" anchor="t">
            <a:spAutoFit/>
          </a:bodyPr>
          <a:lstStyle/>
          <a:p>
            <a:pPr algn="ctr">
              <a:lnSpc>
                <a:spcPct val="100000"/>
              </a:lnSpc>
            </a:pPr>
            <a:r>
              <a:rPr sz="1500" b="0" i="1">
                <a:solidFill>
                  <a:srgbClr val="6B6F76"/>
                </a:solidFill>
                <a:latin typeface="Calibri"/>
              </a:rPr>
              <a:t>One patient-specific implant crosses all four — with no owned handoff between them.</a:t>
            </a:r>
          </a:p>
        </p:txBody>
      </p:sp>
      <p:sp>
        <p:nvSpPr>
          <p:cNvPr id="14" name="TextBox 13"/>
          <p:cNvSpPr txBox="1"/>
          <p:nvPr/>
        </p:nvSpPr>
        <p:spPr>
          <a:xfrm>
            <a:off x="1097280" y="4846320"/>
            <a:ext cx="10058400" cy="1097280"/>
          </a:xfrm>
          <a:prstGeom prst="rect">
            <a:avLst/>
          </a:prstGeom>
          <a:noFill/>
        </p:spPr>
        <p:txBody>
          <a:bodyPr wrap="square" anchor="t">
            <a:spAutoFit/>
          </a:bodyPr>
          <a:lstStyle/>
          <a:p>
            <a:pPr algn="ctr">
              <a:lnSpc>
                <a:spcPct val="100000"/>
              </a:lnSpc>
            </a:pPr>
            <a:r>
              <a:rPr sz="2000" b="0" i="1">
                <a:solidFill>
                  <a:srgbClr val="0B1E33"/>
                </a:solidFill>
                <a:latin typeface="Calibri"/>
              </a:rPr>
              <a:t>"Quality. Lab. Field. Finance. Four systems of record.
Zero shared view of one implant’s journey."</a:t>
            </a:r>
          </a:p>
        </p:txBody>
      </p:sp>
      <p:sp>
        <p:nvSpPr>
          <p:cNvPr id="15" name="TextBox 14"/>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2</a:t>
            </a:r>
          </a:p>
        </p:txBody>
      </p:sp>
      <p:sp>
        <p:nvSpPr>
          <p:cNvPr id="16" name="TextBox 15"/>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DIAGNOSIS</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Functional Answers, Not a Process Model</a:t>
            </a:r>
          </a:p>
        </p:txBody>
      </p:sp>
      <p:sp>
        <p:nvSpPr>
          <p:cNvPr id="6" name="TextBox 5"/>
          <p:cNvSpPr txBox="1"/>
          <p:nvPr/>
        </p:nvSpPr>
        <p:spPr>
          <a:xfrm>
            <a:off x="548640" y="2011680"/>
            <a:ext cx="5486400" cy="3657600"/>
          </a:xfrm>
          <a:prstGeom prst="rect">
            <a:avLst/>
          </a:prstGeom>
          <a:noFill/>
        </p:spPr>
        <p:txBody>
          <a:bodyPr wrap="square">
            <a:spAutoFit/>
          </a:bodyPr>
          <a:lstStyle/>
          <a:p>
            <a:pPr>
              <a:spcAft>
                <a:spcPts val="800"/>
              </a:spcAft>
            </a:pPr>
            <a:r>
              <a:rPr sz="1600">
                <a:solidFill>
                  <a:srgbClr val="1A1A1A"/>
                </a:solidFill>
                <a:latin typeface="Calibri"/>
              </a:rPr>
              <a:t>▸  Sales: “I need a field for doctor certification.”</a:t>
            </a:r>
          </a:p>
          <a:p>
            <a:pPr>
              <a:spcAft>
                <a:spcPts val="800"/>
              </a:spcAft>
            </a:pPr>
            <a:r>
              <a:rPr sz="1600">
                <a:solidFill>
                  <a:srgbClr val="1A1A1A"/>
                </a:solidFill>
                <a:latin typeface="Calibri"/>
              </a:rPr>
              <a:t>▸  Logistics: “I need a field for lot number.”</a:t>
            </a:r>
          </a:p>
          <a:p>
            <a:pPr>
              <a:spcAft>
                <a:spcPts val="800"/>
              </a:spcAft>
            </a:pPr>
            <a:r>
              <a:rPr sz="1600">
                <a:solidFill>
                  <a:srgbClr val="1A1A1A"/>
                </a:solidFill>
                <a:latin typeface="Calibri"/>
              </a:rPr>
              <a:t>▸  Quality: “I need a hold status field.”</a:t>
            </a:r>
          </a:p>
          <a:p>
            <a:pPr>
              <a:spcAft>
                <a:spcPts val="800"/>
              </a:spcAft>
            </a:pPr>
            <a:r>
              <a:rPr sz="1600">
                <a:solidFill>
                  <a:srgbClr val="1A1A1A"/>
                </a:solidFill>
                <a:latin typeface="Calibri"/>
              </a:rPr>
              <a:t>▸  Finance: “I need a cost-center field.”</a:t>
            </a:r>
          </a:p>
        </p:txBody>
      </p:sp>
      <p:sp>
        <p:nvSpPr>
          <p:cNvPr id="7" name="Rounded Rectangle 6"/>
          <p:cNvSpPr/>
          <p:nvPr/>
        </p:nvSpPr>
        <p:spPr>
          <a:xfrm>
            <a:off x="6400800" y="2011680"/>
            <a:ext cx="5212080" cy="2926080"/>
          </a:xfrm>
          <a:prstGeom prst="roundRect">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r>
              <a:rPr sz="1700" b="1">
                <a:solidFill>
                  <a:srgbClr val="FFFFFF"/>
                </a:solidFill>
              </a:rPr>
              <a:t>Functional requests answer ‘what does my screen need.’</a:t>
            </a:r>
          </a:p>
          <a:p>
            <a:pPr>
              <a:spcBef>
                <a:spcPts val="1400"/>
              </a:spcBef>
            </a:pPr>
            <a:r>
              <a:rPr sz="1700" b="1">
                <a:solidFill>
                  <a:srgbClr val="9FC6E8"/>
                </a:solidFill>
              </a:rPr>
              <a:t>They don’t answer ‘what has to be true for this implant to be compliant.’</a:t>
            </a:r>
          </a:p>
        </p:txBody>
      </p:sp>
      <p:sp>
        <p:nvSpPr>
          <p:cNvPr id="8" name="TextBox 7"/>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3</a:t>
            </a:r>
          </a:p>
        </p:txBody>
      </p:sp>
      <p:sp>
        <p:nvSpPr>
          <p:cNvPr id="9" name="TextBox 8"/>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822960"/>
          </a:xfrm>
          <a:prstGeom prst="rect">
            <a:avLst/>
          </a:prstGeom>
          <a:noFill/>
        </p:spPr>
        <p:txBody>
          <a:bodyPr wrap="square" anchor="t">
            <a:spAutoFit/>
          </a:bodyPr>
          <a:lstStyle/>
          <a:p>
            <a:pPr algn="l">
              <a:lnSpc>
                <a:spcPct val="100000"/>
              </a:lnSpc>
            </a:pPr>
            <a:r>
              <a:rPr sz="3000" b="1" i="0">
                <a:solidFill>
                  <a:srgbClr val="FFFFFF"/>
                </a:solidFill>
                <a:latin typeface="Calibri"/>
              </a:rPr>
              <a:t>The Compliant Digital Thread</a:t>
            </a:r>
          </a:p>
        </p:txBody>
      </p:sp>
      <p:cxnSp>
        <p:nvCxnSpPr>
          <p:cNvPr id="4" name="Connector 3"/>
          <p:cNvCxnSpPr/>
          <p:nvPr/>
        </p:nvCxnSpPr>
        <p:spPr>
          <a:xfrm>
            <a:off x="1463040" y="3611880"/>
            <a:ext cx="9265615" cy="0"/>
          </a:xfrm>
          <a:prstGeom prst="line">
            <a:avLst/>
          </a:prstGeom>
          <a:ln w="38100">
            <a:solidFill>
              <a:srgbClr val="2E6BB8"/>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48640" y="3108960"/>
            <a:ext cx="1828800" cy="1005840"/>
          </a:xfrm>
          <a:prstGeom prst="ellipse">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Supplier</a:t>
            </a:r>
          </a:p>
        </p:txBody>
      </p:sp>
      <p:sp>
        <p:nvSpPr>
          <p:cNvPr id="6" name="Oval 5"/>
          <p:cNvSpPr/>
          <p:nvPr/>
        </p:nvSpPr>
        <p:spPr>
          <a:xfrm>
            <a:off x="2865043" y="3108960"/>
            <a:ext cx="1828800" cy="1005840"/>
          </a:xfrm>
          <a:prstGeom prst="ellipse">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Quarantine</a:t>
            </a:r>
          </a:p>
        </p:txBody>
      </p:sp>
      <p:sp>
        <p:nvSpPr>
          <p:cNvPr id="7" name="Oval 6"/>
          <p:cNvSpPr/>
          <p:nvPr/>
        </p:nvSpPr>
        <p:spPr>
          <a:xfrm>
            <a:off x="5181447" y="3108960"/>
            <a:ext cx="1828800" cy="1005840"/>
          </a:xfrm>
          <a:prstGeom prst="ellipse">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Manufacturing</a:t>
            </a:r>
          </a:p>
        </p:txBody>
      </p:sp>
      <p:sp>
        <p:nvSpPr>
          <p:cNvPr id="8" name="Oval 7"/>
          <p:cNvSpPr/>
          <p:nvPr/>
        </p:nvSpPr>
        <p:spPr>
          <a:xfrm>
            <a:off x="7497851" y="3108960"/>
            <a:ext cx="1828800" cy="1005840"/>
          </a:xfrm>
          <a:prstGeom prst="ellipse">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Hospital</a:t>
            </a:r>
          </a:p>
        </p:txBody>
      </p:sp>
      <p:sp>
        <p:nvSpPr>
          <p:cNvPr id="9" name="Oval 8"/>
          <p:cNvSpPr/>
          <p:nvPr/>
        </p:nvSpPr>
        <p:spPr>
          <a:xfrm>
            <a:off x="9814255" y="3108960"/>
            <a:ext cx="1828800" cy="1005840"/>
          </a:xfrm>
          <a:prstGeom prst="ellipse">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Invoice</a:t>
            </a:r>
          </a:p>
        </p:txBody>
      </p:sp>
      <p:sp>
        <p:nvSpPr>
          <p:cNvPr id="10" name="TextBox 9"/>
          <p:cNvSpPr txBox="1"/>
          <p:nvPr/>
        </p:nvSpPr>
        <p:spPr>
          <a:xfrm>
            <a:off x="914400" y="4754880"/>
            <a:ext cx="10332720" cy="1097280"/>
          </a:xfrm>
          <a:prstGeom prst="rect">
            <a:avLst/>
          </a:prstGeom>
          <a:noFill/>
        </p:spPr>
        <p:txBody>
          <a:bodyPr wrap="square" anchor="t">
            <a:spAutoFit/>
          </a:bodyPr>
          <a:lstStyle/>
          <a:p>
            <a:pPr algn="ctr">
              <a:lnSpc>
                <a:spcPct val="100000"/>
              </a:lnSpc>
            </a:pPr>
            <a:r>
              <a:rPr sz="1800" b="0" i="1">
                <a:solidFill>
                  <a:srgbClr val="C9D6E4"/>
                </a:solidFill>
                <a:latin typeface="Calibri"/>
              </a:rPr>
              <a:t>One data model. One audit trail. One definition of compliant — inherited, not invented, department by department.</a:t>
            </a:r>
          </a:p>
        </p:txBody>
      </p:sp>
      <p:sp>
        <p:nvSpPr>
          <p:cNvPr id="11" name="TextBox 10"/>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4</a:t>
            </a:r>
          </a:p>
        </p:txBody>
      </p:sp>
      <p:sp>
        <p:nvSpPr>
          <p:cNvPr id="12" name="TextBox 11"/>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pic>
        <p:nvPicPr>
          <p:cNvPr id="13" name="Picture 12" descr="ic_supplier.png"/>
          <p:cNvPicPr>
            <a:picLocks noChangeAspect="1"/>
          </p:cNvPicPr>
          <p:nvPr/>
        </p:nvPicPr>
        <p:blipFill>
          <a:blip r:embed="rId3"/>
          <a:stretch>
            <a:fillRect/>
          </a:stretch>
        </p:blipFill>
        <p:spPr>
          <a:xfrm>
            <a:off x="1234440" y="2331720"/>
            <a:ext cx="457200" cy="457200"/>
          </a:xfrm>
          <a:prstGeom prst="rect">
            <a:avLst/>
          </a:prstGeom>
        </p:spPr>
      </p:pic>
      <p:pic>
        <p:nvPicPr>
          <p:cNvPr id="14" name="Picture 13" descr="ic_quarantine.png"/>
          <p:cNvPicPr>
            <a:picLocks noChangeAspect="1"/>
          </p:cNvPicPr>
          <p:nvPr/>
        </p:nvPicPr>
        <p:blipFill>
          <a:blip r:embed="rId4"/>
          <a:stretch>
            <a:fillRect/>
          </a:stretch>
        </p:blipFill>
        <p:spPr>
          <a:xfrm>
            <a:off x="3550843" y="2331720"/>
            <a:ext cx="457200" cy="457200"/>
          </a:xfrm>
          <a:prstGeom prst="rect">
            <a:avLst/>
          </a:prstGeom>
        </p:spPr>
      </p:pic>
      <p:pic>
        <p:nvPicPr>
          <p:cNvPr id="15" name="Picture 14" descr="ic_manufacturing.png"/>
          <p:cNvPicPr>
            <a:picLocks noChangeAspect="1"/>
          </p:cNvPicPr>
          <p:nvPr/>
        </p:nvPicPr>
        <p:blipFill>
          <a:blip r:embed="rId5"/>
          <a:stretch>
            <a:fillRect/>
          </a:stretch>
        </p:blipFill>
        <p:spPr>
          <a:xfrm>
            <a:off x="5867247" y="2331720"/>
            <a:ext cx="457200" cy="457200"/>
          </a:xfrm>
          <a:prstGeom prst="rect">
            <a:avLst/>
          </a:prstGeom>
        </p:spPr>
      </p:pic>
      <p:pic>
        <p:nvPicPr>
          <p:cNvPr id="16" name="Picture 15" descr="ic_hospital.png"/>
          <p:cNvPicPr>
            <a:picLocks noChangeAspect="1"/>
          </p:cNvPicPr>
          <p:nvPr/>
        </p:nvPicPr>
        <p:blipFill>
          <a:blip r:embed="rId6"/>
          <a:stretch>
            <a:fillRect/>
          </a:stretch>
        </p:blipFill>
        <p:spPr>
          <a:xfrm>
            <a:off x="8183651" y="2331720"/>
            <a:ext cx="457200" cy="457200"/>
          </a:xfrm>
          <a:prstGeom prst="rect">
            <a:avLst/>
          </a:prstGeom>
        </p:spPr>
      </p:pic>
      <p:pic>
        <p:nvPicPr>
          <p:cNvPr id="17" name="Picture 16" descr="ic_invoice.png"/>
          <p:cNvPicPr>
            <a:picLocks noChangeAspect="1"/>
          </p:cNvPicPr>
          <p:nvPr/>
        </p:nvPicPr>
        <p:blipFill>
          <a:blip r:embed="rId7"/>
          <a:stretch>
            <a:fillRect/>
          </a:stretch>
        </p:blipFill>
        <p:spPr>
          <a:xfrm>
            <a:off x="10500055" y="2331720"/>
            <a:ext cx="457200"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ARCHITECTURE</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Native Core, Named Extension Layer</a:t>
            </a:r>
          </a:p>
        </p:txBody>
      </p:sp>
      <p:sp>
        <p:nvSpPr>
          <p:cNvPr id="6" name="Rounded Rectangle 5"/>
          <p:cNvSpPr/>
          <p:nvPr/>
        </p:nvSpPr>
        <p:spPr>
          <a:xfrm>
            <a:off x="518007" y="210312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E33"/>
                </a:solidFill>
              </a:rPr>
              <a:t>Inventory</a:t>
            </a:r>
          </a:p>
        </p:txBody>
      </p:sp>
      <p:sp>
        <p:nvSpPr>
          <p:cNvPr id="7" name="Rounded Rectangle 6"/>
          <p:cNvSpPr/>
          <p:nvPr/>
        </p:nvSpPr>
        <p:spPr>
          <a:xfrm>
            <a:off x="2804007" y="210312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E33"/>
                </a:solidFill>
              </a:rPr>
              <a:t>Manufacturing</a:t>
            </a:r>
          </a:p>
        </p:txBody>
      </p:sp>
      <p:sp>
        <p:nvSpPr>
          <p:cNvPr id="8" name="Rounded Rectangle 7"/>
          <p:cNvSpPr/>
          <p:nvPr/>
        </p:nvSpPr>
        <p:spPr>
          <a:xfrm>
            <a:off x="5090007" y="210312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E33"/>
                </a:solidFill>
              </a:rPr>
              <a:t>Quality</a:t>
            </a:r>
          </a:p>
        </p:txBody>
      </p:sp>
      <p:sp>
        <p:nvSpPr>
          <p:cNvPr id="9" name="Rounded Rectangle 8"/>
          <p:cNvSpPr/>
          <p:nvPr/>
        </p:nvSpPr>
        <p:spPr>
          <a:xfrm>
            <a:off x="7376007" y="210312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E33"/>
                </a:solidFill>
              </a:rPr>
              <a:t>Sales</a:t>
            </a:r>
          </a:p>
        </p:txBody>
      </p:sp>
      <p:sp>
        <p:nvSpPr>
          <p:cNvPr id="10" name="Rounded Rectangle 9"/>
          <p:cNvSpPr/>
          <p:nvPr/>
        </p:nvSpPr>
        <p:spPr>
          <a:xfrm>
            <a:off x="9662007" y="210312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E33"/>
                </a:solidFill>
              </a:rPr>
              <a:t>Accounting</a:t>
            </a:r>
          </a:p>
        </p:txBody>
      </p:sp>
      <p:sp>
        <p:nvSpPr>
          <p:cNvPr id="11" name="TextBox 10"/>
          <p:cNvSpPr txBox="1"/>
          <p:nvPr/>
        </p:nvSpPr>
        <p:spPr>
          <a:xfrm>
            <a:off x="518007" y="3429000"/>
            <a:ext cx="11155680" cy="365760"/>
          </a:xfrm>
          <a:prstGeom prst="rect">
            <a:avLst/>
          </a:prstGeom>
          <a:noFill/>
        </p:spPr>
        <p:txBody>
          <a:bodyPr wrap="square" anchor="t">
            <a:spAutoFit/>
          </a:bodyPr>
          <a:lstStyle/>
          <a:p>
            <a:pPr algn="ctr">
              <a:lnSpc>
                <a:spcPct val="100000"/>
              </a:lnSpc>
            </a:pPr>
            <a:r>
              <a:rPr sz="1300" b="1" i="0">
                <a:solidFill>
                  <a:srgbClr val="2E6BB8"/>
                </a:solidFill>
                <a:latin typeface="Calibri"/>
              </a:rPr>
              <a:t>GAMP 5 Category 4 — Configured, Native Core</a:t>
            </a:r>
          </a:p>
        </p:txBody>
      </p:sp>
      <p:sp>
        <p:nvSpPr>
          <p:cNvPr id="12" name="Rounded Rectangle 11"/>
          <p:cNvSpPr/>
          <p:nvPr/>
        </p:nvSpPr>
        <p:spPr>
          <a:xfrm>
            <a:off x="518007" y="3931920"/>
            <a:ext cx="11155680" cy="1051560"/>
          </a:xfrm>
          <a:prstGeom prst="roundRect">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FFFF"/>
                </a:solidFill>
              </a:rPr>
              <a:t>MedTech Extension Layer  —  UDI Reporting  ·  Recall &amp; Consignment  ·  Multi-Payer &amp; Rebate Settlement  ·  Instrument Reprocessing  ·  QA Dual-Release</a:t>
            </a:r>
          </a:p>
          <a:p>
            <a:pPr algn="ctr"/>
            <a:r>
              <a:rPr sz="1200">
                <a:solidFill>
                  <a:srgbClr val="9FC6E8"/>
                </a:solidFill>
              </a:rPr>
              <a:t>GAMP 5 Category 5 — validated on its own track</a:t>
            </a:r>
          </a:p>
        </p:txBody>
      </p:sp>
      <p:sp>
        <p:nvSpPr>
          <p:cNvPr id="13" name="TextBox 12"/>
          <p:cNvSpPr txBox="1"/>
          <p:nvPr/>
        </p:nvSpPr>
        <p:spPr>
          <a:xfrm>
            <a:off x="1097280" y="5212080"/>
            <a:ext cx="9966960" cy="914400"/>
          </a:xfrm>
          <a:prstGeom prst="rect">
            <a:avLst/>
          </a:prstGeom>
          <a:noFill/>
        </p:spPr>
        <p:txBody>
          <a:bodyPr wrap="square" anchor="t">
            <a:spAutoFit/>
          </a:bodyPr>
          <a:lstStyle/>
          <a:p>
            <a:pPr algn="ctr">
              <a:lnSpc>
                <a:spcPct val="100000"/>
              </a:lnSpc>
            </a:pPr>
            <a:r>
              <a:rPr sz="1600" b="1" i="0">
                <a:solidFill>
                  <a:srgbClr val="0B1E33"/>
                </a:solidFill>
                <a:latin typeface="Calibri"/>
              </a:rPr>
              <a:t>Five core applications carry the flow — Field Service and CRM complete it at the point of surgery and the physician record. A named extension layer covers what standard Odoo doesn't — the same pattern behind our other regulated-device engagements.</a:t>
            </a:r>
          </a:p>
        </p:txBody>
      </p:sp>
      <p:sp>
        <p:nvSpPr>
          <p:cNvPr id="14" name="TextBox 13"/>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5</a:t>
            </a:r>
          </a:p>
        </p:txBody>
      </p:sp>
      <p:sp>
        <p:nvSpPr>
          <p:cNvPr id="15" name="TextBox 14"/>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SALES &amp; CRM</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Credential Governance, Enforced at Order Confirmation</a:t>
            </a:r>
          </a:p>
        </p:txBody>
      </p:sp>
      <p:sp>
        <p:nvSpPr>
          <p:cNvPr id="6" name="Rounded Rectangle 5"/>
          <p:cNvSpPr/>
          <p:nvPr/>
        </p:nvSpPr>
        <p:spPr>
          <a:xfrm>
            <a:off x="1097280" y="2103120"/>
            <a:ext cx="9966960" cy="2926080"/>
          </a:xfrm>
          <a:prstGeom prst="roundRect">
            <a:avLst/>
          </a:prstGeom>
          <a:solidFill>
            <a:srgbClr val="FFFFFF"/>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5486400" cy="365760"/>
          </a:xfrm>
          <a:prstGeom prst="rect">
            <a:avLst/>
          </a:prstGeom>
          <a:noFill/>
        </p:spPr>
        <p:txBody>
          <a:bodyPr wrap="square" anchor="t">
            <a:spAutoFit/>
          </a:bodyPr>
          <a:lstStyle/>
          <a:p>
            <a:pPr algn="l">
              <a:lnSpc>
                <a:spcPct val="100000"/>
              </a:lnSpc>
            </a:pPr>
            <a:r>
              <a:rPr sz="1500" b="1" i="0">
                <a:solidFill>
                  <a:srgbClr val="0B1E33"/>
                </a:solidFill>
                <a:latin typeface="Calibri"/>
              </a:rPr>
              <a:t>Sales Order  SO0231  —  Dr. M. Feldmann</a:t>
            </a:r>
          </a:p>
        </p:txBody>
      </p:sp>
      <p:sp>
        <p:nvSpPr>
          <p:cNvPr id="8" name="Rectangle 7"/>
          <p:cNvSpPr/>
          <p:nvPr/>
        </p:nvSpPr>
        <p:spPr>
          <a:xfrm>
            <a:off x="1371600" y="2834640"/>
            <a:ext cx="9418320" cy="640080"/>
          </a:xfrm>
          <a:prstGeom prst="rect">
            <a:avLst/>
          </a:prstGeom>
          <a:solidFill>
            <a:srgbClr val="B3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  Blocked — HCP certification expired 04/2026</a:t>
            </a:r>
          </a:p>
        </p:txBody>
      </p:sp>
      <p:sp>
        <p:nvSpPr>
          <p:cNvPr id="9" name="TextBox 8"/>
          <p:cNvSpPr txBox="1"/>
          <p:nvPr/>
        </p:nvSpPr>
        <p:spPr>
          <a:xfrm>
            <a:off x="1371600" y="3749039"/>
            <a:ext cx="9144000" cy="1097280"/>
          </a:xfrm>
          <a:prstGeom prst="rect">
            <a:avLst/>
          </a:prstGeom>
          <a:noFill/>
        </p:spPr>
        <p:txBody>
          <a:bodyPr wrap="square" anchor="t">
            <a:spAutoFit/>
          </a:bodyPr>
          <a:lstStyle/>
          <a:p>
            <a:pPr algn="l">
              <a:lnSpc>
                <a:spcPct val="100000"/>
              </a:lnSpc>
            </a:pPr>
            <a:r>
              <a:rPr sz="1300" b="0" i="0">
                <a:solidFill>
                  <a:srgbClr val="6B6F76"/>
                </a:solidFill>
                <a:latin typeface="Calibri"/>
              </a:rPr>
              <a:t>Confirm order is disabled while x_validation_state ≠ 'validated'.
The order cannot proceed until credentials are renewed in res.partner.</a:t>
            </a:r>
          </a:p>
        </p:txBody>
      </p:sp>
      <p:sp>
        <p:nvSpPr>
          <p:cNvPr id="10" name="TextBox 9"/>
          <p:cNvSpPr txBox="1"/>
          <p:nvPr/>
        </p:nvSpPr>
        <p:spPr>
          <a:xfrm>
            <a:off x="1097280" y="5394960"/>
            <a:ext cx="9966960" cy="731520"/>
          </a:xfrm>
          <a:prstGeom prst="rect">
            <a:avLst/>
          </a:prstGeom>
          <a:noFill/>
        </p:spPr>
        <p:txBody>
          <a:bodyPr wrap="square" anchor="t">
            <a:spAutoFit/>
          </a:bodyPr>
          <a:lstStyle/>
          <a:p>
            <a:pPr algn="l">
              <a:lnSpc>
                <a:spcPct val="100000"/>
              </a:lnSpc>
            </a:pPr>
            <a:r>
              <a:rPr sz="1600" b="0" i="1">
                <a:solidFill>
                  <a:srgbClr val="0B1E33"/>
                </a:solidFill>
                <a:latin typeface="Calibri"/>
              </a:rPr>
              <a:t>A sales order cannot confirm against an invalid or expired physician credential. Compliance is a system constraint, not a checklist.</a:t>
            </a:r>
          </a:p>
        </p:txBody>
      </p:sp>
      <p:sp>
        <p:nvSpPr>
          <p:cNvPr id="11" name="TextBox 10"/>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6</a:t>
            </a:r>
          </a:p>
        </p:txBody>
      </p:sp>
      <p:sp>
        <p:nvSpPr>
          <p:cNvPr id="12" name="TextBox 11"/>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LOGISTICS</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UDI Captured Once, Structured Automatically</a:t>
            </a:r>
          </a:p>
        </p:txBody>
      </p:sp>
      <p:sp>
        <p:nvSpPr>
          <p:cNvPr id="6" name="Rounded Rectangle 5"/>
          <p:cNvSpPr/>
          <p:nvPr/>
        </p:nvSpPr>
        <p:spPr>
          <a:xfrm>
            <a:off x="1097280" y="2103120"/>
            <a:ext cx="9966960" cy="2926080"/>
          </a:xfrm>
          <a:prstGeom prst="roundRect">
            <a:avLst/>
          </a:prstGeom>
          <a:solidFill>
            <a:srgbClr val="FFFFFF"/>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2377440"/>
            <a:ext cx="4114800" cy="457200"/>
          </a:xfrm>
          <a:prstGeom prst="rect">
            <a:avLst/>
          </a:prstGeom>
          <a:noFill/>
        </p:spPr>
        <p:txBody>
          <a:bodyPr wrap="square" anchor="t">
            <a:spAutoFit/>
          </a:bodyPr>
          <a:lstStyle/>
          <a:p>
            <a:pPr algn="l">
              <a:lnSpc>
                <a:spcPct val="100000"/>
              </a:lnSpc>
            </a:pPr>
            <a:r>
              <a:rPr sz="1400" b="0" i="0">
                <a:solidFill>
                  <a:srgbClr val="6B6F76"/>
                </a:solidFill>
                <a:latin typeface="Calibri"/>
              </a:rPr>
              <a:t>Device Identifier (DI)</a:t>
            </a:r>
          </a:p>
        </p:txBody>
      </p:sp>
      <p:sp>
        <p:nvSpPr>
          <p:cNvPr id="8" name="TextBox 7"/>
          <p:cNvSpPr txBox="1"/>
          <p:nvPr/>
        </p:nvSpPr>
        <p:spPr>
          <a:xfrm>
            <a:off x="5760720" y="2377440"/>
            <a:ext cx="4572000" cy="457200"/>
          </a:xfrm>
          <a:prstGeom prst="rect">
            <a:avLst/>
          </a:prstGeom>
          <a:noFill/>
        </p:spPr>
        <p:txBody>
          <a:bodyPr wrap="square" anchor="t">
            <a:spAutoFit/>
          </a:bodyPr>
          <a:lstStyle/>
          <a:p>
            <a:pPr algn="l">
              <a:lnSpc>
                <a:spcPct val="100000"/>
              </a:lnSpc>
            </a:pPr>
            <a:r>
              <a:rPr sz="1400" b="1" i="0">
                <a:solidFill>
                  <a:srgbClr val="0B1E33"/>
                </a:solidFill>
                <a:latin typeface="Calibri"/>
              </a:rPr>
              <a:t>04012345678901</a:t>
            </a:r>
          </a:p>
        </p:txBody>
      </p:sp>
      <p:sp>
        <p:nvSpPr>
          <p:cNvPr id="9" name="TextBox 8"/>
          <p:cNvSpPr txBox="1"/>
          <p:nvPr/>
        </p:nvSpPr>
        <p:spPr>
          <a:xfrm>
            <a:off x="1463040" y="2971800"/>
            <a:ext cx="4114800" cy="457200"/>
          </a:xfrm>
          <a:prstGeom prst="rect">
            <a:avLst/>
          </a:prstGeom>
          <a:noFill/>
        </p:spPr>
        <p:txBody>
          <a:bodyPr wrap="square" anchor="t">
            <a:spAutoFit/>
          </a:bodyPr>
          <a:lstStyle/>
          <a:p>
            <a:pPr algn="l">
              <a:lnSpc>
                <a:spcPct val="100000"/>
              </a:lnSpc>
            </a:pPr>
            <a:r>
              <a:rPr sz="1400" b="0" i="0">
                <a:solidFill>
                  <a:srgbClr val="6B6F76"/>
                </a:solidFill>
                <a:latin typeface="Calibri"/>
              </a:rPr>
              <a:t>Batch / Lot</a:t>
            </a:r>
          </a:p>
        </p:txBody>
      </p:sp>
      <p:sp>
        <p:nvSpPr>
          <p:cNvPr id="10" name="TextBox 9"/>
          <p:cNvSpPr txBox="1"/>
          <p:nvPr/>
        </p:nvSpPr>
        <p:spPr>
          <a:xfrm>
            <a:off x="5760720" y="2971800"/>
            <a:ext cx="4572000" cy="457200"/>
          </a:xfrm>
          <a:prstGeom prst="rect">
            <a:avLst/>
          </a:prstGeom>
          <a:noFill/>
        </p:spPr>
        <p:txBody>
          <a:bodyPr wrap="square" anchor="t">
            <a:spAutoFit/>
          </a:bodyPr>
          <a:lstStyle/>
          <a:p>
            <a:pPr algn="l">
              <a:lnSpc>
                <a:spcPct val="100000"/>
              </a:lnSpc>
            </a:pPr>
            <a:r>
              <a:rPr sz="1400" b="1" i="0">
                <a:solidFill>
                  <a:srgbClr val="0B1E33"/>
                </a:solidFill>
                <a:latin typeface="Calibri"/>
              </a:rPr>
              <a:t>LOT-2603-A</a:t>
            </a:r>
          </a:p>
        </p:txBody>
      </p:sp>
      <p:sp>
        <p:nvSpPr>
          <p:cNvPr id="11" name="TextBox 10"/>
          <p:cNvSpPr txBox="1"/>
          <p:nvPr/>
        </p:nvSpPr>
        <p:spPr>
          <a:xfrm>
            <a:off x="1463040" y="3566160"/>
            <a:ext cx="4114800" cy="457200"/>
          </a:xfrm>
          <a:prstGeom prst="rect">
            <a:avLst/>
          </a:prstGeom>
          <a:noFill/>
        </p:spPr>
        <p:txBody>
          <a:bodyPr wrap="square" anchor="t">
            <a:spAutoFit/>
          </a:bodyPr>
          <a:lstStyle/>
          <a:p>
            <a:pPr algn="l">
              <a:lnSpc>
                <a:spcPct val="100000"/>
              </a:lnSpc>
            </a:pPr>
            <a:r>
              <a:rPr sz="1400" b="0" i="0">
                <a:solidFill>
                  <a:srgbClr val="6B6F76"/>
                </a:solidFill>
                <a:latin typeface="Calibri"/>
              </a:rPr>
              <a:t>Serial</a:t>
            </a:r>
          </a:p>
        </p:txBody>
      </p:sp>
      <p:sp>
        <p:nvSpPr>
          <p:cNvPr id="12" name="TextBox 11"/>
          <p:cNvSpPr txBox="1"/>
          <p:nvPr/>
        </p:nvSpPr>
        <p:spPr>
          <a:xfrm>
            <a:off x="5760720" y="3566160"/>
            <a:ext cx="4572000" cy="457200"/>
          </a:xfrm>
          <a:prstGeom prst="rect">
            <a:avLst/>
          </a:prstGeom>
          <a:noFill/>
        </p:spPr>
        <p:txBody>
          <a:bodyPr wrap="square" anchor="t">
            <a:spAutoFit/>
          </a:bodyPr>
          <a:lstStyle/>
          <a:p>
            <a:pPr algn="l">
              <a:lnSpc>
                <a:spcPct val="100000"/>
              </a:lnSpc>
            </a:pPr>
            <a:r>
              <a:rPr sz="1400" b="1" i="0">
                <a:solidFill>
                  <a:srgbClr val="0B1E33"/>
                </a:solidFill>
                <a:latin typeface="Calibri"/>
              </a:rPr>
              <a:t>SN-88213</a:t>
            </a:r>
          </a:p>
        </p:txBody>
      </p:sp>
      <p:sp>
        <p:nvSpPr>
          <p:cNvPr id="13" name="TextBox 12"/>
          <p:cNvSpPr txBox="1"/>
          <p:nvPr/>
        </p:nvSpPr>
        <p:spPr>
          <a:xfrm>
            <a:off x="1463040" y="4160520"/>
            <a:ext cx="4114800" cy="457200"/>
          </a:xfrm>
          <a:prstGeom prst="rect">
            <a:avLst/>
          </a:prstGeom>
          <a:noFill/>
        </p:spPr>
        <p:txBody>
          <a:bodyPr wrap="square" anchor="t">
            <a:spAutoFit/>
          </a:bodyPr>
          <a:lstStyle/>
          <a:p>
            <a:pPr algn="l">
              <a:lnSpc>
                <a:spcPct val="100000"/>
              </a:lnSpc>
            </a:pPr>
            <a:r>
              <a:rPr sz="1400" b="0" i="0">
                <a:solidFill>
                  <a:srgbClr val="6B6F76"/>
                </a:solidFill>
                <a:latin typeface="Calibri"/>
              </a:rPr>
              <a:t>Expiry</a:t>
            </a:r>
          </a:p>
        </p:txBody>
      </p:sp>
      <p:sp>
        <p:nvSpPr>
          <p:cNvPr id="14" name="TextBox 13"/>
          <p:cNvSpPr txBox="1"/>
          <p:nvPr/>
        </p:nvSpPr>
        <p:spPr>
          <a:xfrm>
            <a:off x="5760720" y="4160520"/>
            <a:ext cx="4572000" cy="457200"/>
          </a:xfrm>
          <a:prstGeom prst="rect">
            <a:avLst/>
          </a:prstGeom>
          <a:noFill/>
        </p:spPr>
        <p:txBody>
          <a:bodyPr wrap="square" anchor="t">
            <a:spAutoFit/>
          </a:bodyPr>
          <a:lstStyle/>
          <a:p>
            <a:pPr algn="l">
              <a:lnSpc>
                <a:spcPct val="100000"/>
              </a:lnSpc>
            </a:pPr>
            <a:r>
              <a:rPr sz="1400" b="1" i="0">
                <a:solidFill>
                  <a:srgbClr val="0B1E33"/>
                </a:solidFill>
                <a:latin typeface="Calibri"/>
              </a:rPr>
              <a:t>2028-03-15</a:t>
            </a:r>
          </a:p>
        </p:txBody>
      </p:sp>
      <p:sp>
        <p:nvSpPr>
          <p:cNvPr id="15" name="TextBox 14"/>
          <p:cNvSpPr txBox="1"/>
          <p:nvPr/>
        </p:nvSpPr>
        <p:spPr>
          <a:xfrm>
            <a:off x="1097280" y="5394960"/>
            <a:ext cx="9966960" cy="731520"/>
          </a:xfrm>
          <a:prstGeom prst="rect">
            <a:avLst/>
          </a:prstGeom>
          <a:noFill/>
        </p:spPr>
        <p:txBody>
          <a:bodyPr wrap="square" anchor="t">
            <a:spAutoFit/>
          </a:bodyPr>
          <a:lstStyle/>
          <a:p>
            <a:pPr algn="l">
              <a:lnSpc>
                <a:spcPct val="100000"/>
              </a:lnSpc>
            </a:pPr>
            <a:r>
              <a:rPr sz="1600" b="0" i="1">
                <a:solidFill>
                  <a:srgbClr val="0B1E33"/>
                </a:solidFill>
                <a:latin typeface="Calibri"/>
              </a:rPr>
              <a:t>Scan once. Device Identifier and Production Identifier parse into structured fields — batch, serial, expiry — no manual re-entry downstream.</a:t>
            </a:r>
          </a:p>
        </p:txBody>
      </p:sp>
      <p:sp>
        <p:nvSpPr>
          <p:cNvPr id="16" name="TextBox 15"/>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7</a:t>
            </a:r>
          </a:p>
        </p:txBody>
      </p:sp>
      <p:sp>
        <p:nvSpPr>
          <p:cNvPr id="17" name="TextBox 16"/>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QUALITY</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The 90-Day Hold, Enforced Automatically</a:t>
            </a:r>
          </a:p>
        </p:txBody>
      </p:sp>
      <p:sp>
        <p:nvSpPr>
          <p:cNvPr id="6" name="Rounded Rectangle 5"/>
          <p:cNvSpPr/>
          <p:nvPr/>
        </p:nvSpPr>
        <p:spPr>
          <a:xfrm>
            <a:off x="655167" y="2468880"/>
            <a:ext cx="2514600" cy="1737360"/>
          </a:xfrm>
          <a:prstGeom prst="roundRect">
            <a:avLst/>
          </a:prstGeom>
          <a:solidFill>
            <a:srgbClr val="FFFFFF"/>
          </a:solidFill>
          <a:ln w="25400">
            <a:solidFill>
              <a:srgbClr val="B32B2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a:solidFill>
                  <a:srgbClr val="0B1E33"/>
                </a:solidFill>
              </a:rPr>
              <a:t>Quarantine</a:t>
            </a:r>
          </a:p>
        </p:txBody>
      </p:sp>
      <p:sp>
        <p:nvSpPr>
          <p:cNvPr id="7" name="Oval 6"/>
          <p:cNvSpPr/>
          <p:nvPr/>
        </p:nvSpPr>
        <p:spPr>
          <a:xfrm>
            <a:off x="1775307" y="3291840"/>
            <a:ext cx="274320" cy="274320"/>
          </a:xfrm>
          <a:prstGeom prst="ellipse">
            <a:avLst/>
          </a:prstGeom>
          <a:solidFill>
            <a:srgbClr val="B3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3188055" y="3200400"/>
            <a:ext cx="237744" cy="45720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44087" y="2468880"/>
            <a:ext cx="2514600" cy="1737360"/>
          </a:xfrm>
          <a:prstGeom prst="roundRect">
            <a:avLst/>
          </a:prstGeom>
          <a:solidFill>
            <a:srgbClr val="FFFFFF"/>
          </a:solidFill>
          <a:ln w="25400">
            <a:solidFill>
              <a:srgbClr val="C78A1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a:solidFill>
                  <a:srgbClr val="0B1E33"/>
                </a:solidFill>
              </a:rPr>
              <a:t>Quality Check</a:t>
            </a:r>
          </a:p>
        </p:txBody>
      </p:sp>
      <p:sp>
        <p:nvSpPr>
          <p:cNvPr id="10" name="Oval 9"/>
          <p:cNvSpPr/>
          <p:nvPr/>
        </p:nvSpPr>
        <p:spPr>
          <a:xfrm>
            <a:off x="4564227" y="3291840"/>
            <a:ext cx="274320" cy="274320"/>
          </a:xfrm>
          <a:prstGeom prst="ellipse">
            <a:avLst/>
          </a:prstGeom>
          <a:solidFill>
            <a:srgbClr val="C7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76975" y="3200400"/>
            <a:ext cx="237744" cy="45720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3007" y="2468880"/>
            <a:ext cx="2514600" cy="1737360"/>
          </a:xfrm>
          <a:prstGeom prst="roundRect">
            <a:avLst/>
          </a:prstGeom>
          <a:solidFill>
            <a:srgbClr val="FFFFFF"/>
          </a:solidFill>
          <a:ln w="25400">
            <a:solidFill>
              <a:srgbClr val="C78A1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a:solidFill>
                  <a:srgbClr val="0B1E33"/>
                </a:solidFill>
              </a:rPr>
              <a:t>Hold Countdown</a:t>
            </a:r>
          </a:p>
        </p:txBody>
      </p:sp>
      <p:sp>
        <p:nvSpPr>
          <p:cNvPr id="13" name="Oval 12"/>
          <p:cNvSpPr/>
          <p:nvPr/>
        </p:nvSpPr>
        <p:spPr>
          <a:xfrm>
            <a:off x="7353147" y="3291840"/>
            <a:ext cx="274320" cy="274320"/>
          </a:xfrm>
          <a:prstGeom prst="ellipse">
            <a:avLst/>
          </a:prstGeom>
          <a:solidFill>
            <a:srgbClr val="C7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65895" y="3200400"/>
            <a:ext cx="237744" cy="45720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21927" y="2468880"/>
            <a:ext cx="2514600" cy="1737360"/>
          </a:xfrm>
          <a:prstGeom prst="roundRect">
            <a:avLst/>
          </a:prstGeom>
          <a:solidFill>
            <a:srgbClr val="FFFFFF"/>
          </a:solidFill>
          <a:ln w="25400">
            <a:solidFill>
              <a:srgbClr val="1F7A4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a:solidFill>
                  <a:srgbClr val="0B1E33"/>
                </a:solidFill>
              </a:rPr>
              <a:t>Released to Stock</a:t>
            </a:r>
          </a:p>
        </p:txBody>
      </p:sp>
      <p:sp>
        <p:nvSpPr>
          <p:cNvPr id="16" name="Oval 15"/>
          <p:cNvSpPr/>
          <p:nvPr/>
        </p:nvSpPr>
        <p:spPr>
          <a:xfrm>
            <a:off x="10142067" y="3291840"/>
            <a:ext cx="274320" cy="274320"/>
          </a:xfrm>
          <a:prstGeom prst="ellipse">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63440"/>
            <a:ext cx="9966960" cy="822960"/>
          </a:xfrm>
          <a:prstGeom prst="rect">
            <a:avLst/>
          </a:prstGeom>
          <a:noFill/>
        </p:spPr>
        <p:txBody>
          <a:bodyPr wrap="square" anchor="t">
            <a:spAutoFit/>
          </a:bodyPr>
          <a:lstStyle/>
          <a:p>
            <a:pPr algn="l">
              <a:lnSpc>
                <a:spcPct val="100000"/>
              </a:lnSpc>
            </a:pPr>
            <a:r>
              <a:rPr sz="1600" b="0" i="1">
                <a:solidFill>
                  <a:srgbClr val="0B1E33"/>
                </a:solidFill>
                <a:latin typeface="Calibri"/>
              </a:rPr>
              <a:t>Inbound stock cannot leave quarantine before both the quality check passes and the 90-day clock completes.</a:t>
            </a:r>
          </a:p>
        </p:txBody>
      </p:sp>
      <p:sp>
        <p:nvSpPr>
          <p:cNvPr id="18" name="TextBox 17"/>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8</a:t>
            </a:r>
          </a:p>
        </p:txBody>
      </p:sp>
      <p:sp>
        <p:nvSpPr>
          <p:cNvPr id="19" name="TextBox 18"/>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FINANCE</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One Clinical Event, Multiple Payers</a:t>
            </a:r>
          </a:p>
        </p:txBody>
      </p:sp>
      <p:sp>
        <p:nvSpPr>
          <p:cNvPr id="6" name="Rounded Rectangle 5"/>
          <p:cNvSpPr/>
          <p:nvPr/>
        </p:nvSpPr>
        <p:spPr>
          <a:xfrm>
            <a:off x="4937760" y="2286000"/>
            <a:ext cx="2286000" cy="914400"/>
          </a:xfrm>
          <a:prstGeom prst="roundRect">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Surgery Consumption Event</a:t>
            </a:r>
          </a:p>
        </p:txBody>
      </p:sp>
      <p:sp>
        <p:nvSpPr>
          <p:cNvPr id="7" name="Rounded Rectangle 6"/>
          <p:cNvSpPr/>
          <p:nvPr/>
        </p:nvSpPr>
        <p:spPr>
          <a:xfrm>
            <a:off x="1645920" y="3931920"/>
            <a:ext cx="3291840" cy="128016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Invoice — Insurer
Analytic tag: PAYER-INS</a:t>
            </a:r>
          </a:p>
        </p:txBody>
      </p:sp>
      <p:sp>
        <p:nvSpPr>
          <p:cNvPr id="8" name="Rounded Rectangle 7"/>
          <p:cNvSpPr/>
          <p:nvPr/>
        </p:nvSpPr>
        <p:spPr>
          <a:xfrm>
            <a:off x="7223760" y="3931920"/>
            <a:ext cx="3291840" cy="128016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Invoice — Patient Co-Pay
Analytic tag: PAYER-PAT</a:t>
            </a:r>
          </a:p>
        </p:txBody>
      </p:sp>
      <p:cxnSp>
        <p:nvCxnSpPr>
          <p:cNvPr id="9" name="Connector 8"/>
          <p:cNvCxnSpPr/>
          <p:nvPr/>
        </p:nvCxnSpPr>
        <p:spPr>
          <a:xfrm flipH="1">
            <a:off x="3291840" y="3200400"/>
            <a:ext cx="2194560" cy="731520"/>
          </a:xfrm>
          <a:prstGeom prst="line">
            <a:avLst/>
          </a:prstGeom>
          <a:ln w="19050">
            <a:solidFill>
              <a:srgbClr val="6B6F7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126480" y="3200400"/>
            <a:ext cx="2743200" cy="731520"/>
          </a:xfrm>
          <a:prstGeom prst="line">
            <a:avLst/>
          </a:prstGeom>
          <a:ln w="19050">
            <a:solidFill>
              <a:srgbClr val="6B6F7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97280" y="5486400"/>
            <a:ext cx="9966960" cy="731520"/>
          </a:xfrm>
          <a:prstGeom prst="rect">
            <a:avLst/>
          </a:prstGeom>
          <a:noFill/>
        </p:spPr>
        <p:txBody>
          <a:bodyPr wrap="square" anchor="t">
            <a:spAutoFit/>
          </a:bodyPr>
          <a:lstStyle/>
          <a:p>
            <a:pPr algn="l">
              <a:lnSpc>
                <a:spcPct val="100000"/>
              </a:lnSpc>
            </a:pPr>
            <a:r>
              <a:rPr sz="1600" b="0" i="1">
                <a:solidFill>
                  <a:srgbClr val="0B1E33"/>
                </a:solidFill>
                <a:latin typeface="Calibri"/>
              </a:rPr>
              <a:t>One clinical event. Two payers, one shared analytic thread — the payer-split invoicing itself is named extension-layer logic, not an out-of-the-box claim.</a:t>
            </a:r>
          </a:p>
        </p:txBody>
      </p:sp>
      <p:sp>
        <p:nvSpPr>
          <p:cNvPr id="12" name="TextBox 11"/>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9</a:t>
            </a:r>
          </a:p>
        </p:txBody>
      </p:sp>
      <p:sp>
        <p:nvSpPr>
          <p:cNvPr id="13" name="TextBox 12"/>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END TO END</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Supplier to Patient — One Continuous Thread</a:t>
            </a:r>
          </a:p>
        </p:txBody>
      </p:sp>
      <p:sp>
        <p:nvSpPr>
          <p:cNvPr id="6" name="Chevron 5"/>
          <p:cNvSpPr/>
          <p:nvPr/>
        </p:nvSpPr>
        <p:spPr>
          <a:xfrm>
            <a:off x="449427" y="2743200"/>
            <a:ext cx="2011680" cy="914400"/>
          </a:xfrm>
          <a:prstGeom prst="chevron">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rPr>
              <a:t>Receipt</a:t>
            </a:r>
          </a:p>
        </p:txBody>
      </p:sp>
      <p:sp>
        <p:nvSpPr>
          <p:cNvPr id="7" name="Chevron 6"/>
          <p:cNvSpPr/>
          <p:nvPr/>
        </p:nvSpPr>
        <p:spPr>
          <a:xfrm>
            <a:off x="2351379" y="2743200"/>
            <a:ext cx="2011680" cy="914400"/>
          </a:xfrm>
          <a:prstGeom prst="chevron">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rPr>
              <a:t>Quarantine</a:t>
            </a:r>
          </a:p>
        </p:txBody>
      </p:sp>
      <p:sp>
        <p:nvSpPr>
          <p:cNvPr id="8" name="Chevron 7"/>
          <p:cNvSpPr/>
          <p:nvPr/>
        </p:nvSpPr>
        <p:spPr>
          <a:xfrm>
            <a:off x="4253331" y="2743200"/>
            <a:ext cx="2011680" cy="914400"/>
          </a:xfrm>
          <a:prstGeom prst="chevron">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rPr>
              <a:t>Manufacture</a:t>
            </a:r>
          </a:p>
        </p:txBody>
      </p:sp>
      <p:sp>
        <p:nvSpPr>
          <p:cNvPr id="9" name="Chevron 8"/>
          <p:cNvSpPr/>
          <p:nvPr/>
        </p:nvSpPr>
        <p:spPr>
          <a:xfrm>
            <a:off x="6155283" y="2743200"/>
            <a:ext cx="2011680" cy="914400"/>
          </a:xfrm>
          <a:prstGeom prst="chevron">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rPr>
              <a:t>Consignment</a:t>
            </a:r>
          </a:p>
        </p:txBody>
      </p:sp>
      <p:sp>
        <p:nvSpPr>
          <p:cNvPr id="10" name="Chevron 9"/>
          <p:cNvSpPr/>
          <p:nvPr/>
        </p:nvSpPr>
        <p:spPr>
          <a:xfrm>
            <a:off x="8057235" y="2743200"/>
            <a:ext cx="2011680" cy="914400"/>
          </a:xfrm>
          <a:prstGeom prst="chevron">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rPr>
              <a:t>Consumption</a:t>
            </a:r>
          </a:p>
        </p:txBody>
      </p:sp>
      <p:sp>
        <p:nvSpPr>
          <p:cNvPr id="11" name="Chevron 10"/>
          <p:cNvSpPr/>
          <p:nvPr/>
        </p:nvSpPr>
        <p:spPr>
          <a:xfrm>
            <a:off x="9959187" y="2743200"/>
            <a:ext cx="2011680" cy="914400"/>
          </a:xfrm>
          <a:prstGeom prst="chevron">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rPr>
              <a:t>Settlement</a:t>
            </a:r>
          </a:p>
        </p:txBody>
      </p:sp>
      <p:sp>
        <p:nvSpPr>
          <p:cNvPr id="12" name="TextBox 11"/>
          <p:cNvSpPr txBox="1"/>
          <p:nvPr/>
        </p:nvSpPr>
        <p:spPr>
          <a:xfrm>
            <a:off x="1097280" y="4114800"/>
            <a:ext cx="9966960" cy="457200"/>
          </a:xfrm>
          <a:prstGeom prst="rect">
            <a:avLst/>
          </a:prstGeom>
          <a:noFill/>
        </p:spPr>
        <p:txBody>
          <a:bodyPr wrap="square" anchor="t">
            <a:spAutoFit/>
          </a:bodyPr>
          <a:lstStyle/>
          <a:p>
            <a:pPr algn="ctr">
              <a:lnSpc>
                <a:spcPct val="100000"/>
              </a:lnSpc>
            </a:pPr>
            <a:r>
              <a:rPr sz="1400" b="0" i="1">
                <a:solidFill>
                  <a:srgbClr val="6B6F76"/>
                </a:solidFill>
                <a:latin typeface="Calibri"/>
              </a:rPr>
              <a:t>Live dashboard: real-time state across every stage, queryable from a single UDI.</a:t>
            </a:r>
          </a:p>
        </p:txBody>
      </p:sp>
      <p:sp>
        <p:nvSpPr>
          <p:cNvPr id="13" name="Rounded Rectangle 12"/>
          <p:cNvSpPr/>
          <p:nvPr/>
        </p:nvSpPr>
        <p:spPr>
          <a:xfrm>
            <a:off x="3813048" y="4617720"/>
            <a:ext cx="4572000" cy="594360"/>
          </a:xfrm>
          <a:prstGeom prst="roundRect">
            <a:avLst/>
          </a:prstGeom>
          <a:solidFill>
            <a:srgbClr val="EAF1F8"/>
          </a:solidFill>
          <a:ln w="1270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Comparable deployments: audit-evidence compilation, weeks → same-day export</a:t>
            </a:r>
          </a:p>
        </p:txBody>
      </p:sp>
      <p:sp>
        <p:nvSpPr>
          <p:cNvPr id="14" name="TextBox 13"/>
          <p:cNvSpPr txBox="1"/>
          <p:nvPr/>
        </p:nvSpPr>
        <p:spPr>
          <a:xfrm>
            <a:off x="1097280" y="5394960"/>
            <a:ext cx="9966960" cy="731520"/>
          </a:xfrm>
          <a:prstGeom prst="rect">
            <a:avLst/>
          </a:prstGeom>
          <a:noFill/>
        </p:spPr>
        <p:txBody>
          <a:bodyPr wrap="square" anchor="t">
            <a:spAutoFit/>
          </a:bodyPr>
          <a:lstStyle/>
          <a:p>
            <a:pPr algn="ctr">
              <a:lnSpc>
                <a:spcPct val="100000"/>
              </a:lnSpc>
            </a:pPr>
            <a:r>
              <a:rPr sz="1700" b="1" i="0">
                <a:solidFill>
                  <a:srgbClr val="0B1E33"/>
                </a:solidFill>
                <a:latin typeface="Calibri"/>
              </a:rPr>
              <a:t>Supplier to patient. One thread, fully traceable. We'll size your number together in discovery.</a:t>
            </a:r>
          </a:p>
        </p:txBody>
      </p:sp>
      <p:sp>
        <p:nvSpPr>
          <p:cNvPr id="15" name="TextBox 14"/>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10</a:t>
            </a:r>
          </a:p>
        </p:txBody>
      </p:sp>
      <p:sp>
        <p:nvSpPr>
          <p:cNvPr id="16" name="TextBox 15"/>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315200" cy="365760"/>
          </a:xfrm>
          <a:prstGeom prst="rect">
            <a:avLst/>
          </a:prstGeom>
          <a:noFill/>
        </p:spPr>
        <p:txBody>
          <a:bodyPr wrap="square" anchor="t">
            <a:spAutoFit/>
          </a:bodyPr>
          <a:lstStyle/>
          <a:p>
            <a:pPr algn="l">
              <a:lnSpc>
                <a:spcPct val="100000"/>
              </a:lnSpc>
            </a:pPr>
            <a:r>
              <a:rPr sz="1300" b="1" i="0">
                <a:solidFill>
                  <a:srgbClr val="2E6BB8"/>
                </a:solidFill>
                <a:latin typeface="Calibri"/>
              </a:rPr>
              <a:t>GxP / VALIDATION</a:t>
            </a:r>
          </a:p>
        </p:txBody>
      </p:sp>
      <p:sp>
        <p:nvSpPr>
          <p:cNvPr id="5" name="TextBox 4"/>
          <p:cNvSpPr txBox="1"/>
          <p:nvPr/>
        </p:nvSpPr>
        <p:spPr>
          <a:xfrm>
            <a:off x="548640" y="621792"/>
            <a:ext cx="10515600" cy="822960"/>
          </a:xfrm>
          <a:prstGeom prst="rect">
            <a:avLst/>
          </a:prstGeom>
          <a:noFill/>
        </p:spPr>
        <p:txBody>
          <a:bodyPr wrap="square" anchor="t">
            <a:spAutoFit/>
          </a:bodyPr>
          <a:lstStyle/>
          <a:p>
            <a:pPr algn="l">
              <a:lnSpc>
                <a:spcPct val="100000"/>
              </a:lnSpc>
            </a:pPr>
            <a:r>
              <a:rPr sz="2800" b="1" i="0">
                <a:solidFill>
                  <a:srgbClr val="0B1E33"/>
                </a:solidFill>
                <a:latin typeface="Calibri"/>
              </a:rPr>
              <a:t>GAMP 5 Category 4 — Configured Product</a:t>
            </a:r>
          </a:p>
        </p:txBody>
      </p:sp>
      <p:sp>
        <p:nvSpPr>
          <p:cNvPr id="6" name="Rounded Rectangle 5"/>
          <p:cNvSpPr/>
          <p:nvPr/>
        </p:nvSpPr>
        <p:spPr>
          <a:xfrm>
            <a:off x="609447" y="237744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URS</a:t>
            </a:r>
          </a:p>
        </p:txBody>
      </p:sp>
      <p:sp>
        <p:nvSpPr>
          <p:cNvPr id="7" name="Right Arrow 6"/>
          <p:cNvSpPr/>
          <p:nvPr/>
        </p:nvSpPr>
        <p:spPr>
          <a:xfrm>
            <a:off x="2639415" y="2788920"/>
            <a:ext cx="192024" cy="36576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49727" y="237744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Risk
Assessment</a:t>
            </a:r>
          </a:p>
        </p:txBody>
      </p:sp>
      <p:sp>
        <p:nvSpPr>
          <p:cNvPr id="9" name="Right Arrow 8"/>
          <p:cNvSpPr/>
          <p:nvPr/>
        </p:nvSpPr>
        <p:spPr>
          <a:xfrm>
            <a:off x="4879695" y="2788920"/>
            <a:ext cx="192024" cy="36576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90007" y="237744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Config
Spec</a:t>
            </a:r>
          </a:p>
        </p:txBody>
      </p:sp>
      <p:sp>
        <p:nvSpPr>
          <p:cNvPr id="11" name="Right Arrow 10"/>
          <p:cNvSpPr/>
          <p:nvPr/>
        </p:nvSpPr>
        <p:spPr>
          <a:xfrm>
            <a:off x="7119975" y="2788920"/>
            <a:ext cx="192024" cy="36576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30287" y="237744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IQ / OQ / PQ</a:t>
            </a:r>
          </a:p>
        </p:txBody>
      </p:sp>
      <p:sp>
        <p:nvSpPr>
          <p:cNvPr id="13" name="Right Arrow 12"/>
          <p:cNvSpPr/>
          <p:nvPr/>
        </p:nvSpPr>
        <p:spPr>
          <a:xfrm>
            <a:off x="9360255" y="2788920"/>
            <a:ext cx="192024" cy="365760"/>
          </a:xfrm>
          <a:prstGeom prst="rightArrow">
            <a:avLst/>
          </a:prstGeom>
          <a:solidFill>
            <a:srgbClr val="6B6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70567" y="2377440"/>
            <a:ext cx="2011680" cy="1188720"/>
          </a:xfrm>
          <a:prstGeom prst="roundRect">
            <a:avLst/>
          </a:prstGeom>
          <a:solidFill>
            <a:srgbClr val="FFFFFF"/>
          </a:solidFill>
          <a:ln w="19050">
            <a:solidFill>
              <a:srgbClr val="2E6B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E33"/>
                </a:solidFill>
              </a:rPr>
              <a:t>Validation
Summary</a:t>
            </a:r>
          </a:p>
        </p:txBody>
      </p:sp>
      <p:sp>
        <p:nvSpPr>
          <p:cNvPr id="15" name="Rounded Rectangle 14"/>
          <p:cNvSpPr/>
          <p:nvPr/>
        </p:nvSpPr>
        <p:spPr>
          <a:xfrm>
            <a:off x="1463040" y="3794760"/>
            <a:ext cx="4206240" cy="548640"/>
          </a:xfrm>
          <a:prstGeom prst="roundRect">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Category 4 — Native Core</a:t>
            </a:r>
          </a:p>
        </p:txBody>
      </p:sp>
      <p:sp>
        <p:nvSpPr>
          <p:cNvPr id="16" name="Rounded Rectangle 15"/>
          <p:cNvSpPr/>
          <p:nvPr/>
        </p:nvSpPr>
        <p:spPr>
          <a:xfrm>
            <a:off x="6492240" y="3794760"/>
            <a:ext cx="4206240" cy="548640"/>
          </a:xfrm>
          <a:prstGeom prst="roundRect">
            <a:avLst/>
          </a:prstGeom>
          <a:solidFill>
            <a:srgbClr val="0B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Category 5 — Extension Layer</a:t>
            </a:r>
          </a:p>
        </p:txBody>
      </p:sp>
      <p:sp>
        <p:nvSpPr>
          <p:cNvPr id="17" name="TextBox 16"/>
          <p:cNvSpPr txBox="1"/>
          <p:nvPr/>
        </p:nvSpPr>
        <p:spPr>
          <a:xfrm>
            <a:off x="1097280" y="4526280"/>
            <a:ext cx="9966960" cy="1645920"/>
          </a:xfrm>
          <a:prstGeom prst="rect">
            <a:avLst/>
          </a:prstGeom>
          <a:noFill/>
        </p:spPr>
        <p:txBody>
          <a:bodyPr wrap="square">
            <a:spAutoFit/>
          </a:bodyPr>
          <a:lstStyle/>
          <a:p>
            <a:pPr>
              <a:spcAft>
                <a:spcPts val="800"/>
              </a:spcAft>
            </a:pPr>
            <a:r>
              <a:rPr sz="1400">
                <a:solidFill>
                  <a:srgbClr val="1A1A1A"/>
                </a:solidFill>
                <a:latin typeface="Calibri"/>
              </a:rPr>
              <a:t>▸  Native chatter + field tracking satisfies permanent audit trail requirements</a:t>
            </a:r>
          </a:p>
          <a:p>
            <a:pPr>
              <a:spcAft>
                <a:spcPts val="800"/>
              </a:spcAft>
            </a:pPr>
            <a:r>
              <a:rPr sz="1400">
                <a:solidFill>
                  <a:srgbClr val="1A1A1A"/>
                </a:solidFill>
                <a:latin typeface="Calibri"/>
              </a:rPr>
              <a:t>▸  Two-step QA release gate (check pass + independent re-authentication) addresses Annex 11 / Part 11 e-signature intent — an explicit design control, not a native product claim</a:t>
            </a:r>
          </a:p>
          <a:p>
            <a:pPr>
              <a:spcAft>
                <a:spcPts val="800"/>
              </a:spcAft>
            </a:pPr>
            <a:r>
              <a:rPr sz="1400">
                <a:solidFill>
                  <a:srgbClr val="1A1A1A"/>
                </a:solidFill>
                <a:latin typeface="Calibri"/>
              </a:rPr>
              <a:t>▸  Regression suite re-run on every release candidate before production promotion</a:t>
            </a:r>
          </a:p>
        </p:txBody>
      </p:sp>
      <p:sp>
        <p:nvSpPr>
          <p:cNvPr id="18" name="TextBox 17"/>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11</a:t>
            </a:r>
          </a:p>
        </p:txBody>
      </p:sp>
      <p:sp>
        <p:nvSpPr>
          <p:cNvPr id="19" name="TextBox 18"/>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822960"/>
          </a:xfrm>
          <a:prstGeom prst="rect">
            <a:avLst/>
          </a:prstGeom>
          <a:noFill/>
        </p:spPr>
        <p:txBody>
          <a:bodyPr wrap="square" anchor="t">
            <a:spAutoFit/>
          </a:bodyPr>
          <a:lstStyle/>
          <a:p>
            <a:pPr algn="l">
              <a:lnSpc>
                <a:spcPct val="100000"/>
              </a:lnSpc>
            </a:pPr>
            <a:r>
              <a:rPr sz="3000" b="1" i="0">
                <a:solidFill>
                  <a:srgbClr val="FFFFFF"/>
                </a:solidFill>
                <a:latin typeface="Calibri"/>
              </a:rPr>
              <a:t>Roadmap &amp; The Ask</a:t>
            </a:r>
          </a:p>
        </p:txBody>
      </p:sp>
      <p:sp>
        <p:nvSpPr>
          <p:cNvPr id="4" name="Rounded Rectangle 3"/>
          <p:cNvSpPr/>
          <p:nvPr/>
        </p:nvSpPr>
        <p:spPr>
          <a:xfrm>
            <a:off x="609447" y="2377440"/>
            <a:ext cx="2011680" cy="1280160"/>
          </a:xfrm>
          <a:prstGeom prst="roundRect">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Discovery
Confirmation</a:t>
            </a:r>
          </a:p>
        </p:txBody>
      </p:sp>
      <p:sp>
        <p:nvSpPr>
          <p:cNvPr id="5" name="Rounded Rectangle 4"/>
          <p:cNvSpPr/>
          <p:nvPr/>
        </p:nvSpPr>
        <p:spPr>
          <a:xfrm>
            <a:off x="2849727" y="2377440"/>
            <a:ext cx="2011680" cy="1280160"/>
          </a:xfrm>
          <a:prstGeom prst="roundRect">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Config Sprint 1
Sales / Quality</a:t>
            </a:r>
          </a:p>
        </p:txBody>
      </p:sp>
      <p:sp>
        <p:nvSpPr>
          <p:cNvPr id="6" name="Rounded Rectangle 5"/>
          <p:cNvSpPr/>
          <p:nvPr/>
        </p:nvSpPr>
        <p:spPr>
          <a:xfrm>
            <a:off x="5090007" y="2377440"/>
            <a:ext cx="2011680" cy="1280160"/>
          </a:xfrm>
          <a:prstGeom prst="roundRect">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Config Sprint 2
Mfg / Finance</a:t>
            </a:r>
          </a:p>
        </p:txBody>
      </p:sp>
      <p:sp>
        <p:nvSpPr>
          <p:cNvPr id="7" name="Rounded Rectangle 6"/>
          <p:cNvSpPr/>
          <p:nvPr/>
        </p:nvSpPr>
        <p:spPr>
          <a:xfrm>
            <a:off x="7330287" y="2377440"/>
            <a:ext cx="2011680" cy="1280160"/>
          </a:xfrm>
          <a:prstGeom prst="roundRect">
            <a:avLst/>
          </a:prstGeom>
          <a:solidFill>
            <a:srgbClr val="2E6BB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Validation</a:t>
            </a:r>
          </a:p>
        </p:txBody>
      </p:sp>
      <p:sp>
        <p:nvSpPr>
          <p:cNvPr id="8" name="Rounded Rectangle 7"/>
          <p:cNvSpPr/>
          <p:nvPr/>
        </p:nvSpPr>
        <p:spPr>
          <a:xfrm>
            <a:off x="9570567" y="2377440"/>
            <a:ext cx="2011680" cy="1280160"/>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Go-Live</a:t>
            </a:r>
          </a:p>
        </p:txBody>
      </p:sp>
      <p:sp>
        <p:nvSpPr>
          <p:cNvPr id="9" name="TextBox 8"/>
          <p:cNvSpPr txBox="1"/>
          <p:nvPr/>
        </p:nvSpPr>
        <p:spPr>
          <a:xfrm>
            <a:off x="1097280" y="4114800"/>
            <a:ext cx="9966960" cy="548640"/>
          </a:xfrm>
          <a:prstGeom prst="rect">
            <a:avLst/>
          </a:prstGeom>
          <a:noFill/>
        </p:spPr>
        <p:txBody>
          <a:bodyPr wrap="square" anchor="t">
            <a:spAutoFit/>
          </a:bodyPr>
          <a:lstStyle/>
          <a:p>
            <a:pPr algn="ctr">
              <a:lnSpc>
                <a:spcPct val="100000"/>
              </a:lnSpc>
            </a:pPr>
            <a:r>
              <a:rPr sz="1500" b="1" i="0">
                <a:solidFill>
                  <a:srgbClr val="F0C14D"/>
                </a:solidFill>
                <a:latin typeface="Calibri"/>
              </a:rPr>
              <a:t>The Ask: fixed-fee, 3-week Discovery Sprint. Decision needed within 5 business days to hold the Sprint 1 slot.</a:t>
            </a:r>
          </a:p>
        </p:txBody>
      </p:sp>
      <p:sp>
        <p:nvSpPr>
          <p:cNvPr id="10" name="TextBox 9"/>
          <p:cNvSpPr txBox="1"/>
          <p:nvPr/>
        </p:nvSpPr>
        <p:spPr>
          <a:xfrm>
            <a:off x="1097280" y="5120640"/>
            <a:ext cx="9966960" cy="914400"/>
          </a:xfrm>
          <a:prstGeom prst="rect">
            <a:avLst/>
          </a:prstGeom>
          <a:noFill/>
        </p:spPr>
        <p:txBody>
          <a:bodyPr wrap="square" anchor="t">
            <a:spAutoFit/>
          </a:bodyPr>
          <a:lstStyle/>
          <a:p>
            <a:pPr algn="ctr">
              <a:lnSpc>
                <a:spcPct val="100000"/>
              </a:lnSpc>
            </a:pPr>
            <a:r>
              <a:rPr sz="2000" b="1" i="0">
                <a:solidFill>
                  <a:srgbClr val="FFFFFF"/>
                </a:solidFill>
                <a:latin typeface="Calibri"/>
              </a:rPr>
              <a:t>Sales credential gating, live on your own data — before your next board update.</a:t>
            </a:r>
          </a:p>
        </p:txBody>
      </p:sp>
      <p:sp>
        <p:nvSpPr>
          <p:cNvPr id="20" name="TextBox 19"/>
          <p:cNvSpPr txBox="1"/>
          <p:nvPr/>
        </p:nvSpPr>
        <p:spPr>
          <a:xfrm>
            <a:off x="1097280" y="6080000"/>
            <a:ext cx="9966960" cy="320040"/>
          </a:xfrm>
          <a:prstGeom prst="rect">
            <a:avLst/>
          </a:prstGeom>
          <a:noFill/>
        </p:spPr>
        <p:txBody>
          <a:bodyPr wrap="square" anchor="t">
            <a:spAutoFit/>
          </a:bodyPr>
          <a:lstStyle/>
          <a:p>
            <a:pPr algn="ctr">
              <a:lnSpc>
                <a:spcPct val="100000"/>
              </a:lnSpc>
            </a:pPr>
            <a:r>
              <a:rPr sz="1100" b="0" i="1">
                <a:solidFill>
                  <a:srgbClr val="9FB3D1"/>
                </a:solidFill>
                <a:latin typeface="Calibri"/>
              </a:rPr>
              <a:t>Delivered well, this is also our MedTech Compliance Accelerator — the pattern we bring to the next engagement.</a:t>
            </a:r>
          </a:p>
        </p:txBody>
      </p:sp>
      <p:sp>
        <p:nvSpPr>
          <p:cNvPr id="11" name="TextBox 10"/>
          <p:cNvSpPr txBox="1"/>
          <p:nvPr/>
        </p:nvSpPr>
        <p:spPr>
          <a:xfrm>
            <a:off x="11247120" y="6446520"/>
            <a:ext cx="731520" cy="320040"/>
          </a:xfrm>
          <a:prstGeom prst="rect">
            <a:avLst/>
          </a:prstGeom>
          <a:noFill/>
        </p:spPr>
        <p:txBody>
          <a:bodyPr wrap="square" anchor="t">
            <a:spAutoFit/>
          </a:bodyPr>
          <a:lstStyle/>
          <a:p>
            <a:pPr algn="r">
              <a:lnSpc>
                <a:spcPct val="100000"/>
              </a:lnSpc>
            </a:pPr>
            <a:r>
              <a:rPr sz="1100" b="0" i="0">
                <a:solidFill>
                  <a:srgbClr val="6B6F76"/>
                </a:solidFill>
                <a:latin typeface="Calibri"/>
              </a:rPr>
              <a:t>12</a:t>
            </a:r>
          </a:p>
        </p:txBody>
      </p:sp>
      <p:sp>
        <p:nvSpPr>
          <p:cNvPr id="12" name="TextBox 11"/>
          <p:cNvSpPr txBox="1"/>
          <p:nvPr/>
        </p:nvSpPr>
        <p:spPr>
          <a:xfrm>
            <a:off x="548640" y="6446520"/>
            <a:ext cx="3657600" cy="320040"/>
          </a:xfrm>
          <a:prstGeom prst="rect">
            <a:avLst/>
          </a:prstGeom>
          <a:noFill/>
        </p:spPr>
        <p:txBody>
          <a:bodyPr wrap="square" anchor="t">
            <a:spAutoFit/>
          </a:bodyPr>
          <a:lstStyle/>
          <a:p>
            <a:pPr algn="l">
              <a:lnSpc>
                <a:spcPct val="100000"/>
              </a:lnSpc>
            </a:pPr>
            <a:r>
              <a:rPr sz="1000" b="0" i="0">
                <a:solidFill>
                  <a:srgbClr val="6B6F76"/>
                </a:solidFill>
                <a:latin typeface="Calibri"/>
              </a:rPr>
              <a:t>much. Consulting  |  MDR Devices Medizintechnik GmbH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